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3333333" cy="7500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_rels/slide3.xml.rels><?xml version="1.0" encoding="UTF-8" standalone="yes"?>
<Relationships xmlns="http://schemas.openxmlformats.org/package/2006/relationships"/>
</file>

<file path=ppt/slides/_rels/slide4.xml.rels><?xml version="1.0" encoding="UTF-8" standalone="yes"?>
<Relationships xmlns="http://schemas.openxmlformats.org/package/2006/relationships"/>
</file>

<file path=ppt/slides/_rels/slide5.xml.rels><?xml version="1.0" encoding="UTF-8" standalone="yes"?>
<Relationships xmlns="http://schemas.openxmlformats.org/package/2006/relationships"/>
</file>

<file path=ppt/slides/_rels/slide6.xml.rels><?xml version="1.0" encoding="UTF-8" standalone="yes"?>
<Relationships xmlns="http://schemas.openxmlformats.org/package/2006/relationships"/>
</file>

<file path=ppt/slides/_rels/slide7.xml.rels><?xml version="1.0" encoding="UTF-8" standalone="yes"?>
<Relationships xmlns="http://schemas.openxmlformats.org/package/2006/relationships"/>
</file>

<file path=ppt/slides/_rels/slide8.xml.rels><?xml version="1.0" encoding="UTF-8" standalone="yes"?>
<Relationships xmlns="http://schemas.openxmlformats.org/package/2006/relationships"/>
</file>

<file path=ppt/slides/_rels/slide9.xml.rels><?xml version="1.0" encoding="UTF-8" standalone="yes"?>
<Relationships xmlns="http://schemas.openxmlformats.org/package/2006/relationships"/>
</file>

<file path=ppt/slides/_rels/slide10.xml.rels><?xml version="1.0" encoding="UTF-8" standalone="yes"?>
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my_merge：医学证据引导模型融合</a:t>
            </a:r>
            <a:endParaRPr lang="zh-CN" sz="3000"/>
          </a:p>
        </p:txBody>
      </p:sp>
      <p:sp>
        <p:nvSpPr>
          <p:cNvPr id="10" name="TextBox 10"/>
          <p:cNvSpPr txBox="1"/>
          <p:nvPr/>
        </p:nvSpPr>
        <p:spPr>
          <a:xfrm>
            <a:off x="777240" y="1051560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2350" b="1">
                <a:solidFill>
                  <a:srgbClr val="111827"/>
                </a:solidFill>
              </a:rPr>
              <a:t>一句话：各医院先独立训练模型，my_merge 再用医学证据决定这些 checkpoint 怎么合并。</a:t>
            </a:r>
            <a:endParaRPr lang="zh-CN" sz="2350"/>
          </a:p>
        </p:txBody>
      </p:sp>
      <p:sp>
        <p:nvSpPr>
          <p:cNvPr id="20" name="Shape 20"/>
          <p:cNvSpPr/>
          <p:nvPr/>
        </p:nvSpPr>
        <p:spPr>
          <a:xfrm>
            <a:off x="822960" y="201168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21" name="Shape 21"/>
          <p:cNvSpPr/>
          <p:nvPr/>
        </p:nvSpPr>
        <p:spPr>
          <a:xfrm>
            <a:off x="822960" y="2011680"/>
            <a:ext cx="73152" cy="1645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024128" y="2176272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1. 问题</a:t>
            </a:r>
            <a:endParaRPr lang="zh-CN" sz="1600"/>
          </a:p>
        </p:txBody>
      </p:sp>
      <p:sp>
        <p:nvSpPr>
          <p:cNvPr id="23" name="TextBox 23"/>
          <p:cNvSpPr txBox="1"/>
          <p:nvPr/>
        </p:nvSpPr>
        <p:spPr>
          <a:xfrm>
            <a:off x="1024128" y="2542032"/>
            <a:ext cx="2907792" cy="9875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训练好的医院模型携带的诊断证据不等价。</a:t>
            </a:r>
            <a:endParaRPr lang="zh-CN" sz="1250"/>
          </a:p>
        </p:txBody>
      </p:sp>
      <p:sp>
        <p:nvSpPr>
          <p:cNvPr id="30" name="Shape 30"/>
          <p:cNvSpPr/>
          <p:nvPr/>
        </p:nvSpPr>
        <p:spPr>
          <a:xfrm>
            <a:off x="4526280" y="201168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31" name="Shape 31"/>
          <p:cNvSpPr/>
          <p:nvPr/>
        </p:nvSpPr>
        <p:spPr>
          <a:xfrm>
            <a:off x="4526280" y="2011680"/>
            <a:ext cx="73152" cy="1645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727448" y="2176272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2. 方法</a:t>
            </a:r>
            <a:endParaRPr lang="zh-CN" sz="1600"/>
          </a:p>
        </p:txBody>
      </p:sp>
      <p:sp>
        <p:nvSpPr>
          <p:cNvPr id="33" name="TextBox 33"/>
          <p:cNvSpPr txBox="1"/>
          <p:nvPr/>
        </p:nvSpPr>
        <p:spPr>
          <a:xfrm>
            <a:off x="4727448" y="2542032"/>
            <a:ext cx="2907792" cy="9875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M1 估计证据，M2 用证据指导合并与选择。</a:t>
            </a:r>
            <a:endParaRPr lang="zh-CN" sz="1250"/>
          </a:p>
        </p:txBody>
      </p:sp>
      <p:sp>
        <p:nvSpPr>
          <p:cNvPr id="40" name="Shape 40"/>
          <p:cNvSpPr/>
          <p:nvPr/>
        </p:nvSpPr>
        <p:spPr>
          <a:xfrm>
            <a:off x="8220456" y="201168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41" name="Shape 41"/>
          <p:cNvSpPr/>
          <p:nvPr/>
        </p:nvSpPr>
        <p:spPr>
          <a:xfrm>
            <a:off x="8220456" y="2011680"/>
            <a:ext cx="73152" cy="1645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8421624" y="2176272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3. 结果</a:t>
            </a:r>
            <a:endParaRPr lang="zh-CN" sz="1600"/>
          </a:p>
        </p:txBody>
      </p:sp>
      <p:sp>
        <p:nvSpPr>
          <p:cNvPr id="43" name="TextBox 43"/>
          <p:cNvSpPr txBox="1"/>
          <p:nvPr/>
        </p:nvSpPr>
        <p:spPr>
          <a:xfrm>
            <a:off x="8421624" y="2542032"/>
            <a:ext cx="2907792" cy="9875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full 最好；去掉 M2 会退回普通融合水平。</a:t>
            </a:r>
            <a:endParaRPr lang="zh-CN" sz="1250"/>
          </a:p>
        </p:txBody>
      </p:sp>
      <p:sp>
        <p:nvSpPr>
          <p:cNvPr id="50" name="TextBox 50"/>
          <p:cNvSpPr txBox="1"/>
          <p:nvPr/>
        </p:nvSpPr>
        <p:spPr>
          <a:xfrm>
            <a:off x="914400" y="416052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50">
                <a:solidFill>
                  <a:srgbClr val="4B5563"/>
                </a:solidFill>
              </a:rPr>
              <a:t>后面只讲三件事：问题是什么，方法怎么合并，为什么有效。</a:t>
            </a:r>
            <a:endParaRPr lang="zh-CN" sz="1650"/>
          </a:p>
        </p:txBody>
      </p:sp>
      <p:sp>
        <p:nvSpPr>
          <p:cNvPr id="3" name="TextBox 3"/>
          <p:cNvSpPr txBox="1"/>
          <p:nvPr/>
        </p:nvSpPr>
        <p:spPr>
          <a:xfrm>
            <a:off x="566928" y="635508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950">
                <a:solidFill>
                  <a:srgbClr val="6B7280"/>
                </a:solidFill>
              </a:rPr>
              <a:t>my_merge / MedMNISTMerge</a:t>
            </a:r>
            <a:endParaRPr lang="zh-CN" sz="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问题：医学客户端不是同质的</a:t>
            </a:r>
            <a:endParaRPr lang="zh-CN" sz="3000"/>
          </a:p>
        </p:txBody>
      </p:sp>
      <p:sp>
        <p:nvSpPr>
          <p:cNvPr id="10" name="Shape 10"/>
          <p:cNvSpPr/>
          <p:nvPr/>
        </p:nvSpPr>
        <p:spPr>
          <a:xfrm>
            <a:off x="731520" y="123444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11" name="Shape 11"/>
          <p:cNvSpPr/>
          <p:nvPr/>
        </p:nvSpPr>
        <p:spPr>
          <a:xfrm>
            <a:off x="731520" y="1234440"/>
            <a:ext cx="73152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32688" y="1399032"/>
            <a:ext cx="277063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客户端 A</a:t>
            </a:r>
            <a:endParaRPr lang="zh-CN" sz="1600"/>
          </a:p>
        </p:txBody>
      </p:sp>
      <p:sp>
        <p:nvSpPr>
          <p:cNvPr id="13" name="TextBox 13"/>
          <p:cNvSpPr txBox="1"/>
          <p:nvPr/>
        </p:nvSpPr>
        <p:spPr>
          <a:xfrm>
            <a:off x="932688" y="1764792"/>
            <a:ext cx="2770632" cy="941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边界清楚，形态稳定</a:t>
            </a:r>
            <a:endParaRPr lang="zh-CN" sz="1250"/>
          </a:p>
        </p:txBody>
      </p:sp>
      <p:sp>
        <p:nvSpPr>
          <p:cNvPr id="20" name="Shape 20"/>
          <p:cNvSpPr/>
          <p:nvPr/>
        </p:nvSpPr>
        <p:spPr>
          <a:xfrm>
            <a:off x="3840480" y="123444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21" name="Shape 21"/>
          <p:cNvSpPr/>
          <p:nvPr/>
        </p:nvSpPr>
        <p:spPr>
          <a:xfrm>
            <a:off x="3840480" y="1234440"/>
            <a:ext cx="73152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041648" y="1399032"/>
            <a:ext cx="277063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客户端 B</a:t>
            </a:r>
            <a:endParaRPr lang="zh-CN" sz="1600"/>
          </a:p>
        </p:txBody>
      </p:sp>
      <p:sp>
        <p:nvSpPr>
          <p:cNvPr id="23" name="TextBox 23"/>
          <p:cNvSpPr txBox="1"/>
          <p:nvPr/>
        </p:nvSpPr>
        <p:spPr>
          <a:xfrm>
            <a:off x="4041648" y="1764792"/>
            <a:ext cx="2770632" cy="941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纹理更明显，局部对比强</a:t>
            </a:r>
            <a:endParaRPr lang="zh-CN" sz="1250"/>
          </a:p>
        </p:txBody>
      </p:sp>
      <p:sp>
        <p:nvSpPr>
          <p:cNvPr id="30" name="Shape 30"/>
          <p:cNvSpPr/>
          <p:nvPr/>
        </p:nvSpPr>
        <p:spPr>
          <a:xfrm>
            <a:off x="6949440" y="123444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31" name="Shape 31"/>
          <p:cNvSpPr/>
          <p:nvPr/>
        </p:nvSpPr>
        <p:spPr>
          <a:xfrm>
            <a:off x="6949440" y="1234440"/>
            <a:ext cx="73152" cy="1600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150608" y="1399032"/>
            <a:ext cx="277063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客户端 C</a:t>
            </a:r>
            <a:endParaRPr lang="zh-CN" sz="1600"/>
          </a:p>
        </p:txBody>
      </p:sp>
      <p:sp>
        <p:nvSpPr>
          <p:cNvPr id="33" name="TextBox 33"/>
          <p:cNvSpPr txBox="1"/>
          <p:nvPr/>
        </p:nvSpPr>
        <p:spPr>
          <a:xfrm>
            <a:off x="7150608" y="1764792"/>
            <a:ext cx="2770632" cy="941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少数类多，难例更多</a:t>
            </a:r>
            <a:endParaRPr lang="zh-CN" sz="1250"/>
          </a:p>
        </p:txBody>
      </p:sp>
      <p:sp>
        <p:nvSpPr>
          <p:cNvPr id="40" name="TextBox 40"/>
          <p:cNvSpPr txBox="1"/>
          <p:nvPr/>
        </p:nvSpPr>
        <p:spPr>
          <a:xfrm>
            <a:off x="868680" y="324612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1850" b="1">
                <a:solidFill>
                  <a:srgbClr val="111827"/>
                </a:solidFill>
              </a:rPr>
              <a:t>FedAvg 的问题：它把这些证据当成同样重要。</a:t>
            </a:r>
            <a:endParaRPr lang="zh-CN" sz="1850"/>
          </a:p>
        </p:txBody>
      </p:sp>
      <p:sp>
        <p:nvSpPr>
          <p:cNvPr id="50" name="Shape 50"/>
          <p:cNvSpPr/>
          <p:nvPr/>
        </p:nvSpPr>
        <p:spPr>
          <a:xfrm>
            <a:off x="1005840" y="3977639"/>
            <a:ext cx="9966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51" name="Shape 51"/>
          <p:cNvSpPr/>
          <p:nvPr/>
        </p:nvSpPr>
        <p:spPr>
          <a:xfrm>
            <a:off x="1005840" y="3977639"/>
            <a:ext cx="73152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207008" y="4142231"/>
            <a:ext cx="958291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真正要学的不是样本数，而是诊断证据</a:t>
            </a:r>
            <a:endParaRPr lang="zh-CN" sz="1600"/>
          </a:p>
        </p:txBody>
      </p:sp>
      <p:sp>
        <p:nvSpPr>
          <p:cNvPr id="53" name="TextBox 53"/>
          <p:cNvSpPr txBox="1"/>
          <p:nvPr/>
        </p:nvSpPr>
        <p:spPr>
          <a:xfrm>
            <a:off x="1207008" y="4507991"/>
            <a:ext cx="9582912" cy="3931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前景、边界、纹理、形状、类别稀有度、难例 margin。</a:t>
            </a:r>
            <a:endParaRPr lang="zh-CN" sz="1250"/>
          </a:p>
        </p:txBody>
      </p:sp>
      <p:sp>
        <p:nvSpPr>
          <p:cNvPr id="3" name="TextBox 3"/>
          <p:cNvSpPr txBox="1"/>
          <p:nvPr/>
        </p:nvSpPr>
        <p:spPr>
          <a:xfrm>
            <a:off x="566928" y="635508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950">
                <a:solidFill>
                  <a:srgbClr val="6B7280"/>
                </a:solidFill>
              </a:rPr>
              <a:t>my_merge / MedMNISTMerge</a:t>
            </a:r>
            <a:endParaRPr lang="zh-CN" sz="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为什么不用联邦学习解决</a:t>
            </a:r>
            <a:endParaRPr lang="zh-CN" sz="3000"/>
          </a:p>
        </p:txBody>
      </p:sp>
      <p:sp>
        <p:nvSpPr>
          <p:cNvPr id="10" name="Shape 10"/>
          <p:cNvSpPr/>
          <p:nvPr/>
        </p:nvSpPr>
        <p:spPr>
          <a:xfrm>
            <a:off x="685800" y="1051560"/>
            <a:ext cx="50749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85800" y="1051560"/>
            <a:ext cx="73152" cy="1874519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86968" y="1216152"/>
            <a:ext cx="469087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联邦学习解决什么</a:t>
            </a:r>
            <a:endParaRPr lang="zh-CN" sz="1600"/>
          </a:p>
        </p:txBody>
      </p:sp>
      <p:sp>
        <p:nvSpPr>
          <p:cNvPr id="13" name="TextBox 13"/>
          <p:cNvSpPr txBox="1"/>
          <p:nvPr/>
        </p:nvSpPr>
        <p:spPr>
          <a:xfrm>
            <a:off x="886968" y="1581912"/>
            <a:ext cx="4690872" cy="12161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多轮通信训练：服务器发全局模型，医院本地训练，再回传更新。重点是训练协议。</a:t>
            </a:r>
            <a:endParaRPr lang="zh-CN" sz="1250"/>
          </a:p>
        </p:txBody>
      </p:sp>
      <p:sp>
        <p:nvSpPr>
          <p:cNvPr id="20" name="Shape 20"/>
          <p:cNvSpPr/>
          <p:nvPr/>
        </p:nvSpPr>
        <p:spPr>
          <a:xfrm>
            <a:off x="6400800" y="1051560"/>
            <a:ext cx="50749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21" name="Shape 21"/>
          <p:cNvSpPr/>
          <p:nvPr/>
        </p:nvSpPr>
        <p:spPr>
          <a:xfrm>
            <a:off x="6400800" y="1051560"/>
            <a:ext cx="73152" cy="187451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601968" y="1216152"/>
            <a:ext cx="469087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这里解决什么</a:t>
            </a:r>
            <a:endParaRPr lang="zh-CN" sz="1600"/>
          </a:p>
        </p:txBody>
      </p:sp>
      <p:sp>
        <p:nvSpPr>
          <p:cNvPr id="23" name="TextBox 23"/>
          <p:cNvSpPr txBox="1"/>
          <p:nvPr/>
        </p:nvSpPr>
        <p:spPr>
          <a:xfrm>
            <a:off x="6601968" y="1581912"/>
            <a:ext cx="4690872" cy="12161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模型后融合：医院已经训练好 checkpoint，服务器只负责把现成模型合成一个可用模型。</a:t>
            </a:r>
            <a:endParaRPr lang="zh-CN" sz="1250"/>
          </a:p>
        </p:txBody>
      </p:sp>
      <p:sp>
        <p:nvSpPr>
          <p:cNvPr id="30" name="Shape 30"/>
          <p:cNvSpPr/>
          <p:nvPr/>
        </p:nvSpPr>
        <p:spPr>
          <a:xfrm>
            <a:off x="685800" y="342900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31" name="Shape 31"/>
          <p:cNvSpPr/>
          <p:nvPr/>
        </p:nvSpPr>
        <p:spPr>
          <a:xfrm>
            <a:off x="685800" y="342900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86968" y="3593592"/>
            <a:ext cx="469087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联邦学习的错位</a:t>
            </a:r>
            <a:endParaRPr lang="zh-CN" sz="1600"/>
          </a:p>
        </p:txBody>
      </p:sp>
      <p:sp>
        <p:nvSpPr>
          <p:cNvPr id="33" name="TextBox 33"/>
          <p:cNvSpPr txBox="1"/>
          <p:nvPr/>
        </p:nvSpPr>
        <p:spPr>
          <a:xfrm>
            <a:off x="886968" y="3959352"/>
            <a:ext cx="4690872" cy="7589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要求反复通信、统一训练入口和同一轮全局模型；真实医疗里常见的是独立训练后的模型交付。</a:t>
            </a:r>
            <a:endParaRPr lang="zh-CN" sz="1250"/>
          </a:p>
        </p:txBody>
      </p:sp>
      <p:sp>
        <p:nvSpPr>
          <p:cNvPr id="40" name="Shape 40"/>
          <p:cNvSpPr/>
          <p:nvPr/>
        </p:nvSpPr>
        <p:spPr>
          <a:xfrm>
            <a:off x="6400800" y="342900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41" name="Shape 41"/>
          <p:cNvSpPr/>
          <p:nvPr/>
        </p:nvSpPr>
        <p:spPr>
          <a:xfrm>
            <a:off x="6400800" y="3429000"/>
            <a:ext cx="73152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6601968" y="3593592"/>
            <a:ext cx="469087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my_merge 的定位</a:t>
            </a:r>
            <a:endParaRPr lang="zh-CN" sz="1600"/>
          </a:p>
        </p:txBody>
      </p:sp>
      <p:sp>
        <p:nvSpPr>
          <p:cNvPr id="43" name="TextBox 43"/>
          <p:cNvSpPr txBox="1"/>
          <p:nvPr/>
        </p:nvSpPr>
        <p:spPr>
          <a:xfrm>
            <a:off x="6601968" y="3959352"/>
            <a:ext cx="4690872" cy="7589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不改变医院训练过程，不访问原始数据，只在 checkpoint 层面做医学证据引导合并。</a:t>
            </a:r>
            <a:endParaRPr lang="zh-CN" sz="1250"/>
          </a:p>
        </p:txBody>
      </p:sp>
      <p:sp>
        <p:nvSpPr>
          <p:cNvPr id="3" name="TextBox 3"/>
          <p:cNvSpPr txBox="1"/>
          <p:nvPr/>
        </p:nvSpPr>
        <p:spPr>
          <a:xfrm>
            <a:off x="566928" y="635508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950">
                <a:solidFill>
                  <a:srgbClr val="6B7280"/>
                </a:solidFill>
              </a:rPr>
              <a:t>my_merge / MedMNISTMerge</a:t>
            </a:r>
            <a:endParaRPr lang="zh-CN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流程图：训练后 checkpoint 合并</a:t>
            </a:r>
            <a:endParaRPr lang="zh-CN" sz="3000"/>
          </a:p>
        </p:txBody>
      </p:sp>
      <p:sp>
        <p:nvSpPr>
          <p:cNvPr id="10" name="Shape 10"/>
          <p:cNvSpPr/>
          <p:nvPr/>
        </p:nvSpPr>
        <p:spPr>
          <a:xfrm>
            <a:off x="411480" y="1417320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11480" y="1417320"/>
            <a:ext cx="73152" cy="123444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12648" y="1581912"/>
            <a:ext cx="176479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医院模型</a:t>
            </a:r>
            <a:endParaRPr lang="zh-CN" sz="1600"/>
          </a:p>
        </p:txBody>
      </p:sp>
      <p:sp>
        <p:nvSpPr>
          <p:cNvPr id="13" name="TextBox 13"/>
          <p:cNvSpPr txBox="1"/>
          <p:nvPr/>
        </p:nvSpPr>
        <p:spPr>
          <a:xfrm>
            <a:off x="612648" y="1947672"/>
            <a:ext cx="1764792" cy="5760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训练完成的 checkpoints</a:t>
            </a:r>
            <a:endParaRPr lang="zh-CN" sz="1250"/>
          </a:p>
        </p:txBody>
      </p:sp>
      <p:sp>
        <p:nvSpPr>
          <p:cNvPr id="20" name="TextBox 20"/>
          <p:cNvSpPr txBox="1"/>
          <p:nvPr/>
        </p:nvSpPr>
        <p:spPr>
          <a:xfrm>
            <a:off x="2670048" y="178308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300" b="1">
                <a:solidFill>
                  <a:srgbClr val="6B7280"/>
                </a:solidFill>
              </a:rPr>
              <a:t>→</a:t>
            </a:r>
            <a:endParaRPr lang="zh-CN" sz="2300"/>
          </a:p>
        </p:txBody>
      </p:sp>
      <p:sp>
        <p:nvSpPr>
          <p:cNvPr id="30" name="Shape 30"/>
          <p:cNvSpPr/>
          <p:nvPr/>
        </p:nvSpPr>
        <p:spPr>
          <a:xfrm>
            <a:off x="3063240" y="1417320"/>
            <a:ext cx="2377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31" name="Shape 31"/>
          <p:cNvSpPr/>
          <p:nvPr/>
        </p:nvSpPr>
        <p:spPr>
          <a:xfrm>
            <a:off x="3063240" y="141732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264408" y="1581912"/>
            <a:ext cx="199339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M1</a:t>
            </a:r>
            <a:endParaRPr lang="zh-CN" sz="1600"/>
          </a:p>
        </p:txBody>
      </p:sp>
      <p:sp>
        <p:nvSpPr>
          <p:cNvPr id="33" name="TextBox 33"/>
          <p:cNvSpPr txBox="1"/>
          <p:nvPr/>
        </p:nvSpPr>
        <p:spPr>
          <a:xfrm>
            <a:off x="3264408" y="1947672"/>
            <a:ext cx="1993392" cy="5760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估计客户端诊断信息</a:t>
            </a:r>
            <a:endParaRPr lang="zh-CN" sz="1250"/>
          </a:p>
        </p:txBody>
      </p:sp>
      <p:sp>
        <p:nvSpPr>
          <p:cNvPr id="40" name="TextBox 40"/>
          <p:cNvSpPr txBox="1"/>
          <p:nvPr/>
        </p:nvSpPr>
        <p:spPr>
          <a:xfrm>
            <a:off x="5596128" y="178308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300" b="1">
                <a:solidFill>
                  <a:srgbClr val="6B7280"/>
                </a:solidFill>
              </a:rPr>
              <a:t>→</a:t>
            </a:r>
            <a:endParaRPr lang="zh-CN" sz="2300"/>
          </a:p>
        </p:txBody>
      </p:sp>
      <p:sp>
        <p:nvSpPr>
          <p:cNvPr id="50" name="Shape 50"/>
          <p:cNvSpPr/>
          <p:nvPr/>
        </p:nvSpPr>
        <p:spPr>
          <a:xfrm>
            <a:off x="5989320" y="1417320"/>
            <a:ext cx="2468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51" name="Shape 51"/>
          <p:cNvSpPr/>
          <p:nvPr/>
        </p:nvSpPr>
        <p:spPr>
          <a:xfrm>
            <a:off x="5989320" y="1417320"/>
            <a:ext cx="73152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6190488" y="1581912"/>
            <a:ext cx="208483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M2</a:t>
            </a:r>
            <a:endParaRPr lang="zh-CN" sz="1600"/>
          </a:p>
        </p:txBody>
      </p:sp>
      <p:sp>
        <p:nvSpPr>
          <p:cNvPr id="53" name="TextBox 53"/>
          <p:cNvSpPr txBox="1"/>
          <p:nvPr/>
        </p:nvSpPr>
        <p:spPr>
          <a:xfrm>
            <a:off x="6190488" y="1947672"/>
            <a:ext cx="2084832" cy="5760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证据引导融合选择</a:t>
            </a:r>
            <a:endParaRPr lang="zh-CN" sz="1250"/>
          </a:p>
        </p:txBody>
      </p:sp>
      <p:sp>
        <p:nvSpPr>
          <p:cNvPr id="60" name="TextBox 60"/>
          <p:cNvSpPr txBox="1"/>
          <p:nvPr/>
        </p:nvSpPr>
        <p:spPr>
          <a:xfrm>
            <a:off x="8613648" y="178308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300" b="1">
                <a:solidFill>
                  <a:srgbClr val="6B7280"/>
                </a:solidFill>
              </a:rPr>
              <a:t>→</a:t>
            </a:r>
            <a:endParaRPr lang="zh-CN" sz="2300"/>
          </a:p>
        </p:txBody>
      </p:sp>
      <p:sp>
        <p:nvSpPr>
          <p:cNvPr id="70" name="Shape 70"/>
          <p:cNvSpPr/>
          <p:nvPr/>
        </p:nvSpPr>
        <p:spPr>
          <a:xfrm>
            <a:off x="9006840" y="1417320"/>
            <a:ext cx="2240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71" name="Shape 71"/>
          <p:cNvSpPr/>
          <p:nvPr/>
        </p:nvSpPr>
        <p:spPr>
          <a:xfrm>
            <a:off x="9006840" y="1417320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9208008" y="1581912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最终模型</a:t>
            </a:r>
            <a:endParaRPr lang="zh-CN" sz="1600"/>
          </a:p>
        </p:txBody>
      </p:sp>
      <p:sp>
        <p:nvSpPr>
          <p:cNvPr id="73" name="TextBox 73"/>
          <p:cNvSpPr txBox="1"/>
          <p:nvPr/>
        </p:nvSpPr>
        <p:spPr>
          <a:xfrm>
            <a:off x="9208008" y="1947672"/>
            <a:ext cx="1856232" cy="5760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输出合并后的全局模型</a:t>
            </a:r>
            <a:endParaRPr lang="zh-CN" sz="1250"/>
          </a:p>
        </p:txBody>
      </p:sp>
      <p:sp>
        <p:nvSpPr>
          <p:cNvPr id="80" name="Shape 80"/>
          <p:cNvSpPr/>
          <p:nvPr/>
        </p:nvSpPr>
        <p:spPr>
          <a:xfrm>
            <a:off x="731520" y="3246120"/>
            <a:ext cx="1078992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6DEE8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960120" y="3493008"/>
            <a:ext cx="10241280" cy="8686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1850" b="1">
                <a:solidFill>
                  <a:srgbClr val="111827"/>
                </a:solidFill>
              </a:rPr>
              <a:t>M1 输出三组权重：overall / morphology / class。M2 读取这些权重，做层级融合、分类头融合、候选构建和候选选择。</a:t>
            </a:r>
            <a:endParaRPr lang="zh-CN" sz="1850"/>
          </a:p>
        </p:txBody>
      </p:sp>
      <p:sp>
        <p:nvSpPr>
          <p:cNvPr id="82" name="TextBox 82"/>
          <p:cNvSpPr txBox="1"/>
          <p:nvPr/>
        </p:nvSpPr>
        <p:spPr>
          <a:xfrm>
            <a:off x="960120" y="4041648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1450">
                <a:solidFill>
                  <a:srgbClr val="4B5563"/>
                </a:solidFill>
              </a:rPr>
              <a:t>这不是联邦训练：没有多轮通信，只处理已经训练好的模型 checkpoint。</a:t>
            </a:r>
            <a:endParaRPr lang="zh-CN" sz="1450"/>
          </a:p>
        </p:txBody>
      </p:sp>
      <p:sp>
        <p:nvSpPr>
          <p:cNvPr id="3" name="TextBox 3"/>
          <p:cNvSpPr txBox="1"/>
          <p:nvPr/>
        </p:nvSpPr>
        <p:spPr>
          <a:xfrm>
            <a:off x="566928" y="635508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950">
                <a:solidFill>
                  <a:srgbClr val="6B7280"/>
                </a:solidFill>
              </a:rPr>
              <a:t>my_merge / MedMNISTMerge</a:t>
            </a:r>
            <a:endParaRPr lang="zh-CN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算法大概长什么样</a:t>
            </a:r>
            <a:endParaRPr lang="zh-CN" sz="3000"/>
          </a:p>
        </p:txBody>
      </p:sp>
      <p:sp>
        <p:nvSpPr>
          <p:cNvPr id="10" name="Shape 10"/>
          <p:cNvSpPr/>
          <p:nvPr/>
        </p:nvSpPr>
        <p:spPr>
          <a:xfrm>
            <a:off x="685800" y="1051560"/>
            <a:ext cx="107899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960120" y="1298448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450" b="1">
                <a:solidFill>
                  <a:srgbClr val="111827"/>
                </a:solidFill>
              </a:rPr>
              <a:t>Input: checkpoints {θ_i}, validation data D_val</a:t>
            </a:r>
            <a:endParaRPr lang="zh-CN" sz="1450"/>
          </a:p>
        </p:txBody>
      </p:sp>
      <p:sp>
        <p:nvSpPr>
          <p:cNvPr id="12" name="TextBox 12"/>
          <p:cNvSpPr txBox="1"/>
          <p:nvPr/>
        </p:nvSpPr>
        <p:spPr>
          <a:xfrm>
            <a:off x="960120" y="182880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350">
                <a:solidFill>
                  <a:srgbClr val="374151"/>
                </a:solidFill>
              </a:rPr>
              <a:t>1. Extract medical evidence φ(x): foreground, boundary, contrast, texture, shape</a:t>
            </a:r>
            <a:endParaRPr lang="zh-CN" sz="1350"/>
          </a:p>
        </p:txBody>
      </p:sp>
      <p:sp>
        <p:nvSpPr>
          <p:cNvPr id="13" name="TextBox 13"/>
          <p:cNvSpPr txBox="1"/>
          <p:nvPr/>
        </p:nvSpPr>
        <p:spPr>
          <a:xfrm>
            <a:off x="960120" y="2267712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350">
                <a:solidFill>
                  <a:srgbClr val="374151"/>
                </a:solidFill>
              </a:rPr>
              <a:t>2. Evaluate each checkpoint on D_val with φ(x), class rarity and hard-case margin</a:t>
            </a:r>
            <a:endParaRPr lang="zh-CN" sz="1350"/>
          </a:p>
        </p:txBody>
      </p:sp>
      <p:sp>
        <p:nvSpPr>
          <p:cNvPr id="14" name="TextBox 14"/>
          <p:cNvSpPr txBox="1"/>
          <p:nvPr/>
        </p:nvSpPr>
        <p:spPr>
          <a:xfrm>
            <a:off x="960120" y="2706624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350">
                <a:solidFill>
                  <a:srgbClr val="374151"/>
                </a:solidFill>
              </a:rPr>
              <a:t>3. Estimate weights: w_overall, w_morphology, w_class</a:t>
            </a:r>
            <a:endParaRPr lang="zh-CN" sz="1350"/>
          </a:p>
        </p:txBody>
      </p:sp>
      <p:sp>
        <p:nvSpPr>
          <p:cNvPr id="15" name="TextBox 15"/>
          <p:cNvSpPr txBox="1"/>
          <p:nvPr/>
        </p:nvSpPr>
        <p:spPr>
          <a:xfrm>
            <a:off x="960120" y="3145536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350">
                <a:solidFill>
                  <a:srgbClr val="374151"/>
                </a:solidFill>
              </a:rPr>
              <a:t>4. Build merged candidates: avg, morphology, anchor, specialist, consensus, etc.</a:t>
            </a:r>
            <a:endParaRPr lang="zh-CN" sz="1350"/>
          </a:p>
        </p:txBody>
      </p:sp>
      <p:sp>
        <p:nvSpPr>
          <p:cNvPr id="16" name="TextBox 16"/>
          <p:cNvSpPr txBox="1"/>
          <p:nvPr/>
        </p:nvSpPr>
        <p:spPr>
          <a:xfrm>
            <a:off x="960120" y="3584448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350">
                <a:solidFill>
                  <a:srgbClr val="374151"/>
                </a:solidFill>
              </a:rPr>
              <a:t>5. Select candidate by validation score; output merged checkpoint θ*</a:t>
            </a:r>
            <a:endParaRPr lang="zh-CN" sz="1350"/>
          </a:p>
        </p:txBody>
      </p:sp>
      <p:sp>
        <p:nvSpPr>
          <p:cNvPr id="20" name="Shape 20"/>
          <p:cNvSpPr/>
          <p:nvPr/>
        </p:nvSpPr>
        <p:spPr>
          <a:xfrm>
            <a:off x="914400" y="4434840"/>
            <a:ext cx="1033272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143000" y="4572000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1450" b="1">
                <a:solidFill>
                  <a:srgbClr val="1E3A8A"/>
                </a:solidFill>
              </a:rPr>
              <a:t>核心：医学证据不是额外说明，而是直接决定参数融合和候选选择。</a:t>
            </a:r>
            <a:endParaRPr lang="zh-CN" sz="1450"/>
          </a:p>
        </p:txBody>
      </p:sp>
      <p:sp>
        <p:nvSpPr>
          <p:cNvPr id="3" name="TextBox 3"/>
          <p:cNvSpPr txBox="1"/>
          <p:nvPr/>
        </p:nvSpPr>
        <p:spPr>
          <a:xfrm>
            <a:off x="566928" y="635508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950">
                <a:solidFill>
                  <a:srgbClr val="6B7280"/>
                </a:solidFill>
              </a:rPr>
              <a:t>my_merge / MedMNISTMerge</a:t>
            </a:r>
            <a:endParaRPr lang="zh-CN" sz="9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M1：先估计客户端有什么诊断信息</a:t>
            </a:r>
            <a:endParaRPr lang="zh-CN" sz="3000"/>
          </a:p>
        </p:txBody>
      </p:sp>
      <p:sp>
        <p:nvSpPr>
          <p:cNvPr id="10" name="Shape 10"/>
          <p:cNvSpPr/>
          <p:nvPr/>
        </p:nvSpPr>
        <p:spPr>
          <a:xfrm>
            <a:off x="502920" y="1143000"/>
            <a:ext cx="33375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11" name="Shape 11"/>
          <p:cNvSpPr/>
          <p:nvPr/>
        </p:nvSpPr>
        <p:spPr>
          <a:xfrm>
            <a:off x="502920" y="114300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04088" y="1307592"/>
            <a:ext cx="295351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看什么</a:t>
            </a:r>
            <a:endParaRPr lang="zh-CN" sz="1600"/>
          </a:p>
        </p:txBody>
      </p:sp>
      <p:sp>
        <p:nvSpPr>
          <p:cNvPr id="13" name="TextBox 13"/>
          <p:cNvSpPr txBox="1"/>
          <p:nvPr/>
        </p:nvSpPr>
        <p:spPr>
          <a:xfrm>
            <a:off x="704088" y="1673352"/>
            <a:ext cx="2953512" cy="12618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前景面积</a:t>
            </a:r>
            <a:endParaRPr lang="zh-CN" sz="1250"/>
          </a:p>
          <a:p>
            <a:pPr algn="l"/>
            <a:r>
              <a:rPr lang="zh-CN" sz="1250">
                <a:solidFill>
                  <a:srgbClr val="374151"/>
                </a:solidFill>
              </a:rPr>
              <a:t>边界强度</a:t>
            </a:r>
            <a:endParaRPr lang="zh-CN" sz="1250"/>
          </a:p>
          <a:p>
            <a:pPr algn="l"/>
            <a:r>
              <a:rPr lang="zh-CN" sz="1250">
                <a:solidFill>
                  <a:srgbClr val="374151"/>
                </a:solidFill>
              </a:rPr>
              <a:t>局部对比</a:t>
            </a:r>
            <a:endParaRPr lang="zh-CN" sz="1250"/>
          </a:p>
          <a:p>
            <a:pPr algn="l"/>
            <a:r>
              <a:rPr lang="zh-CN" sz="1250">
                <a:solidFill>
                  <a:srgbClr val="374151"/>
                </a:solidFill>
              </a:rPr>
              <a:t>纹理异质性</a:t>
            </a:r>
            <a:endParaRPr lang="zh-CN" sz="1250"/>
          </a:p>
          <a:p>
            <a:pPr algn="l"/>
            <a:r>
              <a:rPr lang="zh-CN" sz="1250">
                <a:solidFill>
                  <a:srgbClr val="374151"/>
                </a:solidFill>
              </a:rPr>
              <a:t>形状紧致度</a:t>
            </a:r>
            <a:endParaRPr lang="zh-CN" sz="1250"/>
          </a:p>
        </p:txBody>
      </p:sp>
      <p:sp>
        <p:nvSpPr>
          <p:cNvPr id="20" name="Shape 20"/>
          <p:cNvSpPr/>
          <p:nvPr/>
        </p:nvSpPr>
        <p:spPr>
          <a:xfrm>
            <a:off x="4434840" y="1143000"/>
            <a:ext cx="33375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21" name="Shape 21"/>
          <p:cNvSpPr/>
          <p:nvPr/>
        </p:nvSpPr>
        <p:spPr>
          <a:xfrm>
            <a:off x="4434840" y="1143000"/>
            <a:ext cx="73152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636008" y="1307592"/>
            <a:ext cx="295351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怎么估</a:t>
            </a:r>
            <a:endParaRPr lang="zh-CN" sz="1600"/>
          </a:p>
        </p:txBody>
      </p:sp>
      <p:sp>
        <p:nvSpPr>
          <p:cNvPr id="23" name="TextBox 23"/>
          <p:cNvSpPr txBox="1"/>
          <p:nvPr/>
        </p:nvSpPr>
        <p:spPr>
          <a:xfrm>
            <a:off x="4636008" y="1673352"/>
            <a:ext cx="2953512" cy="12618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验证集上看样本、难例、低 margin 和少数类表现。</a:t>
            </a:r>
            <a:endParaRPr lang="zh-CN" sz="1250"/>
          </a:p>
        </p:txBody>
      </p:sp>
      <p:sp>
        <p:nvSpPr>
          <p:cNvPr id="30" name="Shape 30"/>
          <p:cNvSpPr/>
          <p:nvPr/>
        </p:nvSpPr>
        <p:spPr>
          <a:xfrm>
            <a:off x="8366760" y="1143000"/>
            <a:ext cx="33375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31" name="Shape 31"/>
          <p:cNvSpPr/>
          <p:nvPr/>
        </p:nvSpPr>
        <p:spPr>
          <a:xfrm>
            <a:off x="8366760" y="1143000"/>
            <a:ext cx="73152" cy="1920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567928" y="1307592"/>
            <a:ext cx="295351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输出什么</a:t>
            </a:r>
            <a:endParaRPr lang="zh-CN" sz="1600"/>
          </a:p>
        </p:txBody>
      </p:sp>
      <p:sp>
        <p:nvSpPr>
          <p:cNvPr id="33" name="TextBox 33"/>
          <p:cNvSpPr txBox="1"/>
          <p:nvPr/>
        </p:nvSpPr>
        <p:spPr>
          <a:xfrm>
            <a:off x="8567928" y="1673352"/>
            <a:ext cx="2953512" cy="12618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overall_weights</a:t>
            </a:r>
            <a:endParaRPr lang="zh-CN" sz="1250"/>
          </a:p>
          <a:p>
            <a:pPr algn="l"/>
            <a:r>
              <a:rPr lang="zh-CN" sz="1250">
                <a:solidFill>
                  <a:srgbClr val="374151"/>
                </a:solidFill>
              </a:rPr>
              <a:t>morphology_weights</a:t>
            </a:r>
            <a:endParaRPr lang="zh-CN" sz="1250"/>
          </a:p>
          <a:p>
            <a:pPr algn="l"/>
            <a:r>
              <a:rPr lang="zh-CN" sz="1250">
                <a:solidFill>
                  <a:srgbClr val="374151"/>
                </a:solidFill>
              </a:rPr>
              <a:t>class_weights</a:t>
            </a:r>
            <a:endParaRPr lang="zh-CN" sz="1250"/>
          </a:p>
        </p:txBody>
      </p:sp>
      <p:sp>
        <p:nvSpPr>
          <p:cNvPr id="40" name="Shape 40"/>
          <p:cNvSpPr/>
          <p:nvPr/>
        </p:nvSpPr>
        <p:spPr>
          <a:xfrm>
            <a:off x="914400" y="3794760"/>
            <a:ext cx="10332720" cy="8686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1143000" y="4041648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1900" b="1">
                <a:solidFill>
                  <a:srgbClr val="1E3A8A"/>
                </a:solidFill>
              </a:rPr>
              <a:t>M1 的作用很简单：把“哪个客户端更懂这个病灶”量化出来。</a:t>
            </a:r>
            <a:endParaRPr lang="zh-CN" sz="1900"/>
          </a:p>
        </p:txBody>
      </p:sp>
      <p:sp>
        <p:nvSpPr>
          <p:cNvPr id="3" name="TextBox 3"/>
          <p:cNvSpPr txBox="1"/>
          <p:nvPr/>
        </p:nvSpPr>
        <p:spPr>
          <a:xfrm>
            <a:off x="566928" y="635508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950">
                <a:solidFill>
                  <a:srgbClr val="6B7280"/>
                </a:solidFill>
              </a:rPr>
              <a:t>my_merge / MedMNISTMerge</a:t>
            </a:r>
            <a:endParaRPr lang="zh-CN"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M2：用诊断信息控制融合</a:t>
            </a:r>
            <a:endParaRPr lang="zh-CN" sz="3000"/>
          </a:p>
        </p:txBody>
      </p:sp>
      <p:sp>
        <p:nvSpPr>
          <p:cNvPr id="10" name="Shape 10"/>
          <p:cNvSpPr/>
          <p:nvPr/>
        </p:nvSpPr>
        <p:spPr>
          <a:xfrm>
            <a:off x="502920" y="1097280"/>
            <a:ext cx="3108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11" name="Shape 11"/>
          <p:cNvSpPr/>
          <p:nvPr/>
        </p:nvSpPr>
        <p:spPr>
          <a:xfrm>
            <a:off x="502920" y="1097280"/>
            <a:ext cx="73152" cy="187451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04088" y="1261872"/>
            <a:ext cx="272491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早期层</a:t>
            </a:r>
            <a:endParaRPr lang="zh-CN" sz="1600"/>
          </a:p>
        </p:txBody>
      </p:sp>
      <p:sp>
        <p:nvSpPr>
          <p:cNvPr id="13" name="TextBox 13"/>
          <p:cNvSpPr txBox="1"/>
          <p:nvPr/>
        </p:nvSpPr>
        <p:spPr>
          <a:xfrm>
            <a:off x="704088" y="1627632"/>
            <a:ext cx="2724912" cy="12161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更看重 morphology_weights</a:t>
            </a:r>
            <a:endParaRPr lang="zh-CN" sz="1250"/>
          </a:p>
        </p:txBody>
      </p:sp>
      <p:sp>
        <p:nvSpPr>
          <p:cNvPr id="20" name="Shape 20"/>
          <p:cNvSpPr/>
          <p:nvPr/>
        </p:nvSpPr>
        <p:spPr>
          <a:xfrm>
            <a:off x="4315968" y="1097280"/>
            <a:ext cx="3108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21" name="Shape 21"/>
          <p:cNvSpPr/>
          <p:nvPr/>
        </p:nvSpPr>
        <p:spPr>
          <a:xfrm>
            <a:off x="4315968" y="1097280"/>
            <a:ext cx="73152" cy="1874519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517136" y="1261872"/>
            <a:ext cx="272491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分类头</a:t>
            </a:r>
            <a:endParaRPr lang="zh-CN" sz="1600"/>
          </a:p>
        </p:txBody>
      </p:sp>
      <p:sp>
        <p:nvSpPr>
          <p:cNvPr id="23" name="TextBox 23"/>
          <p:cNvSpPr txBox="1"/>
          <p:nvPr/>
        </p:nvSpPr>
        <p:spPr>
          <a:xfrm>
            <a:off x="4517136" y="1627632"/>
            <a:ext cx="2724912" cy="12161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按类别用 class_weights</a:t>
            </a:r>
            <a:endParaRPr lang="zh-CN" sz="1250"/>
          </a:p>
        </p:txBody>
      </p:sp>
      <p:sp>
        <p:nvSpPr>
          <p:cNvPr id="30" name="Shape 30"/>
          <p:cNvSpPr/>
          <p:nvPr/>
        </p:nvSpPr>
        <p:spPr>
          <a:xfrm>
            <a:off x="8138160" y="1097280"/>
            <a:ext cx="3108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31" name="Shape 31"/>
          <p:cNvSpPr/>
          <p:nvPr/>
        </p:nvSpPr>
        <p:spPr>
          <a:xfrm>
            <a:off x="8138160" y="1097280"/>
            <a:ext cx="73152" cy="1874519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339328" y="1261872"/>
            <a:ext cx="272491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最终选择</a:t>
            </a:r>
            <a:endParaRPr lang="zh-CN" sz="1600"/>
          </a:p>
        </p:txBody>
      </p:sp>
      <p:sp>
        <p:nvSpPr>
          <p:cNvPr id="33" name="TextBox 33"/>
          <p:cNvSpPr txBox="1"/>
          <p:nvPr/>
        </p:nvSpPr>
        <p:spPr>
          <a:xfrm>
            <a:off x="8339328" y="1627632"/>
            <a:ext cx="2724912" cy="12161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在候选模型里选验证集最好的</a:t>
            </a:r>
            <a:endParaRPr lang="zh-CN" sz="1250"/>
          </a:p>
        </p:txBody>
      </p:sp>
      <p:sp>
        <p:nvSpPr>
          <p:cNvPr id="40" name="Shape 40"/>
          <p:cNvSpPr/>
          <p:nvPr/>
        </p:nvSpPr>
        <p:spPr>
          <a:xfrm>
            <a:off x="868680" y="3794760"/>
            <a:ext cx="10378440" cy="1051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1097280" y="4041648"/>
            <a:ext cx="992124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1900" b="1">
                <a:solidFill>
                  <a:srgbClr val="991B1B"/>
                </a:solidFill>
              </a:rPr>
              <a:t>M2 不是简单平均，而是“按医学证据挑融合方式”。</a:t>
            </a:r>
            <a:endParaRPr lang="zh-CN" sz="1900"/>
          </a:p>
        </p:txBody>
      </p:sp>
      <p:sp>
        <p:nvSpPr>
          <p:cNvPr id="3" name="TextBox 3"/>
          <p:cNvSpPr txBox="1"/>
          <p:nvPr/>
        </p:nvSpPr>
        <p:spPr>
          <a:xfrm>
            <a:off x="566928" y="635508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950">
                <a:solidFill>
                  <a:srgbClr val="6B7280"/>
                </a:solidFill>
              </a:rPr>
              <a:t>my_merge / MedMNISTMerge</a:t>
            </a:r>
            <a:endParaRPr lang="zh-CN" sz="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为什么不能直接搬到 NLP</a:t>
            </a:r>
            <a:endParaRPr lang="zh-CN" sz="3000"/>
          </a:p>
        </p:txBody>
      </p:sp>
      <p:sp>
        <p:nvSpPr>
          <p:cNvPr id="10" name="Shape 10"/>
          <p:cNvSpPr/>
          <p:nvPr/>
        </p:nvSpPr>
        <p:spPr>
          <a:xfrm>
            <a:off x="640080" y="109728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40080" y="109728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41248" y="1261872"/>
            <a:ext cx="464515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医学影像</a:t>
            </a:r>
            <a:endParaRPr lang="zh-CN" sz="1600"/>
          </a:p>
        </p:txBody>
      </p:sp>
      <p:sp>
        <p:nvSpPr>
          <p:cNvPr id="13" name="TextBox 13"/>
          <p:cNvSpPr txBox="1"/>
          <p:nvPr/>
        </p:nvSpPr>
        <p:spPr>
          <a:xfrm>
            <a:off x="841248" y="1627632"/>
            <a:ext cx="4645152" cy="11704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有二维空间证据：前景、边界、纹理、形状、局部对比度。</a:t>
            </a:r>
            <a:endParaRPr lang="zh-CN" sz="1250"/>
          </a:p>
        </p:txBody>
      </p:sp>
      <p:sp>
        <p:nvSpPr>
          <p:cNvPr id="20" name="Shape 20"/>
          <p:cNvSpPr/>
          <p:nvPr/>
        </p:nvSpPr>
        <p:spPr>
          <a:xfrm>
            <a:off x="6492240" y="109728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21" name="Shape 21"/>
          <p:cNvSpPr/>
          <p:nvPr/>
        </p:nvSpPr>
        <p:spPr>
          <a:xfrm>
            <a:off x="6492240" y="1097280"/>
            <a:ext cx="73152" cy="18288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693408" y="1261872"/>
            <a:ext cx="464515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NLP</a:t>
            </a:r>
            <a:endParaRPr lang="zh-CN" sz="1600"/>
          </a:p>
        </p:txBody>
      </p:sp>
      <p:sp>
        <p:nvSpPr>
          <p:cNvPr id="23" name="TextBox 23"/>
          <p:cNvSpPr txBox="1"/>
          <p:nvPr/>
        </p:nvSpPr>
        <p:spPr>
          <a:xfrm>
            <a:off x="6693408" y="1627632"/>
            <a:ext cx="4645152" cy="11704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没有这些像素级证据；要重新定义语言任务里的证据。</a:t>
            </a:r>
            <a:endParaRPr lang="zh-CN" sz="1250"/>
          </a:p>
        </p:txBody>
      </p:sp>
      <p:sp>
        <p:nvSpPr>
          <p:cNvPr id="30" name="Shape 30"/>
          <p:cNvSpPr/>
          <p:nvPr/>
        </p:nvSpPr>
        <p:spPr>
          <a:xfrm>
            <a:off x="640080" y="3429000"/>
            <a:ext cx="5029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31" name="Shape 31"/>
          <p:cNvSpPr/>
          <p:nvPr/>
        </p:nvSpPr>
        <p:spPr>
          <a:xfrm>
            <a:off x="640080" y="342900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41248" y="3593592"/>
            <a:ext cx="464515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不能直接迁移的部分</a:t>
            </a:r>
            <a:endParaRPr lang="zh-CN" sz="1600"/>
          </a:p>
        </p:txBody>
      </p:sp>
      <p:sp>
        <p:nvSpPr>
          <p:cNvPr id="33" name="TextBox 33"/>
          <p:cNvSpPr txBox="1"/>
          <p:nvPr/>
        </p:nvSpPr>
        <p:spPr>
          <a:xfrm>
            <a:off x="841248" y="3959352"/>
            <a:ext cx="4645152" cy="66751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φ(x) 依赖 Sobel 边界、局部纹理、病灶前景和形态紧致度。</a:t>
            </a:r>
            <a:endParaRPr lang="zh-CN" sz="1250"/>
          </a:p>
        </p:txBody>
      </p:sp>
      <p:sp>
        <p:nvSpPr>
          <p:cNvPr id="40" name="Shape 40"/>
          <p:cNvSpPr/>
          <p:nvPr/>
        </p:nvSpPr>
        <p:spPr>
          <a:xfrm>
            <a:off x="6492240" y="3429000"/>
            <a:ext cx="5029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41" name="Shape 41"/>
          <p:cNvSpPr/>
          <p:nvPr/>
        </p:nvSpPr>
        <p:spPr>
          <a:xfrm>
            <a:off x="6492240" y="3429000"/>
            <a:ext cx="73152" cy="1325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6693408" y="3593592"/>
            <a:ext cx="4645152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00" b="1">
                <a:solidFill>
                  <a:srgbClr val="111827"/>
                </a:solidFill>
              </a:rPr>
              <a:t>可以迁移的部分</a:t>
            </a:r>
            <a:endParaRPr lang="zh-CN" sz="1600"/>
          </a:p>
        </p:txBody>
      </p:sp>
      <p:sp>
        <p:nvSpPr>
          <p:cNvPr id="43" name="TextBox 43"/>
          <p:cNvSpPr txBox="1"/>
          <p:nvPr/>
        </p:nvSpPr>
        <p:spPr>
          <a:xfrm>
            <a:off x="6693408" y="3959352"/>
            <a:ext cx="4645152" cy="66751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50">
                <a:solidFill>
                  <a:srgbClr val="374151"/>
                </a:solidFill>
              </a:rPr>
              <a:t>“先估计来源可靠性，再指导融合”这个抽象框架。</a:t>
            </a:r>
            <a:endParaRPr lang="zh-CN" sz="1250"/>
          </a:p>
        </p:txBody>
      </p:sp>
      <p:sp>
        <p:nvSpPr>
          <p:cNvPr id="3" name="TextBox 3"/>
          <p:cNvSpPr txBox="1"/>
          <p:nvPr/>
        </p:nvSpPr>
        <p:spPr>
          <a:xfrm>
            <a:off x="566928" y="635508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950">
                <a:solidFill>
                  <a:srgbClr val="6B7280"/>
                </a:solidFill>
              </a:rPr>
              <a:t>my_merge / MedMNISTMerge</a:t>
            </a:r>
            <a:endParaRPr lang="zh-CN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消融结果：哪个模块真的有用</a:t>
            </a:r>
            <a:endParaRPr lang="zh-CN" sz="3000"/>
          </a:p>
        </p:txBody>
      </p:sp>
      <p:sp>
        <p:nvSpPr>
          <p:cNvPr id="10" name="TextBox 10"/>
          <p:cNvSpPr txBox="1"/>
          <p:nvPr/>
        </p:nvSpPr>
        <p:spPr>
          <a:xfrm>
            <a:off x="914400" y="1097280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300">
                <a:solidFill>
                  <a:srgbClr val="111827"/>
                </a:solidFill>
              </a:rPr>
              <a:t>full</a:t>
            </a:r>
            <a:endParaRPr lang="zh-CN" sz="1300"/>
          </a:p>
        </p:txBody>
      </p:sp>
      <p:sp>
        <p:nvSpPr>
          <p:cNvPr id="11" name="Shape 11"/>
          <p:cNvSpPr/>
          <p:nvPr/>
        </p:nvSpPr>
        <p:spPr>
          <a:xfrm>
            <a:off x="2514600" y="1097280"/>
            <a:ext cx="4754880" cy="201168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</p:sp>
      <p:sp>
        <p:nvSpPr>
          <p:cNvPr id="12" name="Shape 12"/>
          <p:cNvSpPr/>
          <p:nvPr/>
        </p:nvSpPr>
        <p:spPr>
          <a:xfrm>
            <a:off x="2514600" y="1097280"/>
            <a:ext cx="4522419" cy="2011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360920" y="106984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00" b="1">
                <a:solidFill>
                  <a:srgbClr val="111827"/>
                </a:solidFill>
              </a:rPr>
              <a:t>0.3424</a:t>
            </a:r>
            <a:endParaRPr lang="zh-CN" sz="1200"/>
          </a:p>
        </p:txBody>
      </p:sp>
      <p:sp>
        <p:nvSpPr>
          <p:cNvPr id="20" name="TextBox 20"/>
          <p:cNvSpPr txBox="1"/>
          <p:nvPr/>
        </p:nvSpPr>
        <p:spPr>
          <a:xfrm>
            <a:off x="914400" y="1737360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300">
                <a:solidFill>
                  <a:srgbClr val="111827"/>
                </a:solidFill>
              </a:rPr>
              <a:t>no M1</a:t>
            </a:r>
            <a:endParaRPr lang="zh-CN" sz="1300"/>
          </a:p>
        </p:txBody>
      </p:sp>
      <p:sp>
        <p:nvSpPr>
          <p:cNvPr id="21" name="Shape 21"/>
          <p:cNvSpPr/>
          <p:nvPr/>
        </p:nvSpPr>
        <p:spPr>
          <a:xfrm>
            <a:off x="2514600" y="1737360"/>
            <a:ext cx="4754880" cy="201168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</p:sp>
      <p:sp>
        <p:nvSpPr>
          <p:cNvPr id="22" name="Shape 22"/>
          <p:cNvSpPr/>
          <p:nvPr/>
        </p:nvSpPr>
        <p:spPr>
          <a:xfrm>
            <a:off x="2514600" y="1737360"/>
            <a:ext cx="4249013" cy="201168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60920" y="170992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00" b="1">
                <a:solidFill>
                  <a:srgbClr val="111827"/>
                </a:solidFill>
              </a:rPr>
              <a:t>0.3217</a:t>
            </a:r>
            <a:endParaRPr lang="zh-CN" sz="1200"/>
          </a:p>
        </p:txBody>
      </p:sp>
      <p:sp>
        <p:nvSpPr>
          <p:cNvPr id="30" name="TextBox 30"/>
          <p:cNvSpPr txBox="1"/>
          <p:nvPr/>
        </p:nvSpPr>
        <p:spPr>
          <a:xfrm>
            <a:off x="914400" y="2377440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300">
                <a:solidFill>
                  <a:srgbClr val="111827"/>
                </a:solidFill>
              </a:rPr>
              <a:t>no M2</a:t>
            </a:r>
            <a:endParaRPr lang="zh-CN" sz="1300"/>
          </a:p>
        </p:txBody>
      </p:sp>
      <p:sp>
        <p:nvSpPr>
          <p:cNvPr id="31" name="Shape 31"/>
          <p:cNvSpPr/>
          <p:nvPr/>
        </p:nvSpPr>
        <p:spPr>
          <a:xfrm>
            <a:off x="2514600" y="2377440"/>
            <a:ext cx="4754880" cy="201168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</p:sp>
      <p:sp>
        <p:nvSpPr>
          <p:cNvPr id="32" name="Shape 32"/>
          <p:cNvSpPr/>
          <p:nvPr/>
        </p:nvSpPr>
        <p:spPr>
          <a:xfrm>
            <a:off x="2514600" y="2377440"/>
            <a:ext cx="2941421" cy="201168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360920" y="235000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00" b="1">
                <a:solidFill>
                  <a:srgbClr val="111827"/>
                </a:solidFill>
              </a:rPr>
              <a:t>0.2227</a:t>
            </a:r>
            <a:endParaRPr lang="zh-CN" sz="1200"/>
          </a:p>
        </p:txBody>
      </p:sp>
      <p:sp>
        <p:nvSpPr>
          <p:cNvPr id="40" name="TextBox 40"/>
          <p:cNvSpPr txBox="1"/>
          <p:nvPr/>
        </p:nvSpPr>
        <p:spPr>
          <a:xfrm>
            <a:off x="914400" y="3017520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300">
                <a:solidFill>
                  <a:srgbClr val="111827"/>
                </a:solidFill>
              </a:rPr>
              <a:t>avg only</a:t>
            </a:r>
            <a:endParaRPr lang="zh-CN" sz="1300"/>
          </a:p>
        </p:txBody>
      </p:sp>
      <p:sp>
        <p:nvSpPr>
          <p:cNvPr id="41" name="Shape 41"/>
          <p:cNvSpPr/>
          <p:nvPr/>
        </p:nvSpPr>
        <p:spPr>
          <a:xfrm>
            <a:off x="2514600" y="3017520"/>
            <a:ext cx="4754880" cy="201168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</p:sp>
      <p:sp>
        <p:nvSpPr>
          <p:cNvPr id="42" name="Shape 42"/>
          <p:cNvSpPr/>
          <p:nvPr/>
        </p:nvSpPr>
        <p:spPr>
          <a:xfrm>
            <a:off x="2514600" y="3017520"/>
            <a:ext cx="2941421" cy="201168"/>
          </a:xfrm>
          <a:prstGeom prst="roundRect">
            <a:avLst/>
          </a:prstGeom>
          <a:solidFill>
            <a:srgbClr val="9CA3AF"/>
          </a:solidFill>
          <a:ln w="12700">
            <a:solidFill>
              <a:srgbClr val="9CA3AF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7360920" y="299008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1200" b="1">
                <a:solidFill>
                  <a:srgbClr val="111827"/>
                </a:solidFill>
              </a:rPr>
              <a:t>0.2227</a:t>
            </a:r>
            <a:endParaRPr lang="zh-CN" sz="1200"/>
          </a:p>
        </p:txBody>
      </p:sp>
      <p:sp>
        <p:nvSpPr>
          <p:cNvPr id="50" name="Shape 50"/>
          <p:cNvSpPr/>
          <p:nvPr/>
        </p:nvSpPr>
        <p:spPr>
          <a:xfrm>
            <a:off x="868680" y="4069080"/>
            <a:ext cx="103327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6DEE8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1097280" y="431596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1850" b="1">
                <a:solidFill>
                  <a:srgbClr val="111827"/>
                </a:solidFill>
              </a:rPr>
              <a:t>结论：M2 是主贡献，M1 也有用；去掉 M2 基本回到平均融合。</a:t>
            </a:r>
            <a:endParaRPr lang="zh-CN" sz="1850"/>
          </a:p>
        </p:txBody>
      </p:sp>
      <p:sp>
        <p:nvSpPr>
          <p:cNvPr id="3" name="TextBox 3"/>
          <p:cNvSpPr txBox="1"/>
          <p:nvPr/>
        </p:nvSpPr>
        <p:spPr>
          <a:xfrm>
            <a:off x="566928" y="635508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950">
                <a:solidFill>
                  <a:srgbClr val="6B7280"/>
                </a:solidFill>
              </a:rPr>
              <a:t>my_merge / MedMNISTMerge</a:t>
            </a:r>
            <a:endParaRPr lang="zh-CN" sz="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最后一句话</a:t>
            </a:r>
            <a:endParaRPr lang="zh-CN" sz="3000"/>
          </a:p>
        </p:txBody>
      </p:sp>
      <p:sp>
        <p:nvSpPr>
          <p:cNvPr id="10" name="Shape 10"/>
          <p:cNvSpPr/>
          <p:nvPr/>
        </p:nvSpPr>
        <p:spPr>
          <a:xfrm>
            <a:off x="868680" y="1325880"/>
            <a:ext cx="10424160" cy="2011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143000" y="1645920"/>
            <a:ext cx="987552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300" b="1">
                <a:solidFill>
                  <a:srgbClr val="1E3A8A"/>
                </a:solidFill>
              </a:rPr>
              <a:t>my_merge 的核心：把医学影像里的诊断证据，变成模型合并的依据。</a:t>
            </a:r>
            <a:endParaRPr lang="zh-CN" sz="2300"/>
          </a:p>
        </p:txBody>
      </p:sp>
      <p:sp>
        <p:nvSpPr>
          <p:cNvPr id="12" name="TextBox 12"/>
          <p:cNvSpPr txBox="1"/>
          <p:nvPr/>
        </p:nvSpPr>
        <p:spPr>
          <a:xfrm>
            <a:off x="1234440" y="2971800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1750">
                <a:solidFill>
                  <a:srgbClr val="374151"/>
                </a:solidFill>
              </a:rPr>
              <a:t>问题 - 方法 - 结果，三句话就够。</a:t>
            </a:r>
            <a:endParaRPr lang="zh-CN" sz="1750"/>
          </a:p>
        </p:txBody>
      </p:sp>
      <p:sp>
        <p:nvSpPr>
          <p:cNvPr id="3" name="TextBox 3"/>
          <p:cNvSpPr txBox="1"/>
          <p:nvPr/>
        </p:nvSpPr>
        <p:spPr>
          <a:xfrm>
            <a:off x="566928" y="635508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sz="950">
                <a:solidFill>
                  <a:srgbClr val="6B7280"/>
                </a:solidFill>
              </a:rPr>
              <a:t>my_merge / MedMNISTMerge</a:t>
            </a:r>
            <a:endParaRPr lang="zh-CN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_merge">
  <a:themeElements>
    <a:clrScheme name="my_merge">
      <a:dk1>
        <a:srgbClr val="111827"/>
      </a:dk1>
      <a:lt1>
        <a:srgbClr val="F8FAFC"/>
      </a:lt1>
      <a:dk2>
        <a:srgbClr val="374151"/>
      </a:dk2>
      <a:lt2>
        <a:srgbClr val="E5E7EB"/>
      </a:lt2>
      <a:accent1>
        <a:srgbClr val="2563EB"/>
      </a:accent1>
      <a:accent2>
        <a:srgbClr val="059669"/>
      </a:accent2>
      <a:accent3>
        <a:srgbClr val="DC2626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my_merge">
      <a:majorFont>
        <a:latin typeface="Arial"/>
        <a:ea typeface="Microsoft YaHei"/>
      </a:majorFont>
      <a:minorFont>
        <a:latin typeface="Arial"/>
        <a:ea typeface="Microsoft YaHei"/>
      </a:minorFont>
    </a:fontScheme>
    <a:fmtScheme name="my_merg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MedMNISTMerge</Application>
  <PresentationFormat>Widescreen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my_merge算法逻辑</dc:title>
  <dc:creator>MedMNISTMerge</dc:creator>
  <cp:lastModifiedBy>MedMNISTMerge</cp:lastModifiedBy>
  <dcterms:created xsi:type="dcterms:W3CDTF">2026-05-23T08:53:08Z</dcterms:created>
  <dcterms:modified xsi:type="dcterms:W3CDTF">2026-05-23T08:53:08Z</dcterms:modified>
</cp:coreProperties>
</file>